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Foundations of Estimation in Biomedical Studies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Lesley Chapman Hannah, Ph.D., M.S.College of Graduate StudiesNortheast Ohio Medical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Lecture Overview</a:t>
            </a:r>
          </a:p>
          <a:p>
            <a:pPr lvl="0"/>
            <a:r>
              <a:rPr/>
              <a:t>define estimation in biomedical and clinical data analysis</a:t>
            </a:r>
          </a:p>
          <a:p>
            <a:pPr lvl="0"/>
            <a:r>
              <a:rPr/>
              <a:t>provide context for the intersection between estimation, descriptive statistics and formal inference</a:t>
            </a:r>
          </a:p>
          <a:p>
            <a:pPr lvl="0"/>
            <a:r>
              <a:rPr/>
              <a:t>explain how sampling variability motivates interval estimation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Estimation in Biomedical Data Analysis</a:t>
            </a:r>
          </a:p>
          <a:p>
            <a:pPr lvl="0" indent="0" marL="1270000">
              <a:buNone/>
            </a:pPr>
            <a:r>
              <a:rPr sz="2000"/>
              <a:t>Estimation uses the observed sample to quantify unknown population values, expressing both the best-supported value and the uncertainty introduced by sampling variability</a:t>
            </a:r>
          </a:p>
          <a:p>
            <a:pPr lvl="0" indent="0" marL="0">
              <a:buNone/>
            </a:pPr>
            <a:r>
              <a:rPr/>
              <a:t>Biomedical and clinical research is conducted on samples instead of data from entire populations</a:t>
            </a:r>
          </a:p>
          <a:p>
            <a:pPr lvl="0" indent="0" marL="0">
              <a:buNone/>
            </a:pPr>
            <a:r>
              <a:rPr/>
              <a:t>Each dataset represents:</a:t>
            </a:r>
          </a:p>
          <a:p>
            <a:pPr lvl="0"/>
            <a:r>
              <a:rPr/>
              <a:t>subset of patients</a:t>
            </a:r>
          </a:p>
          <a:p>
            <a:pPr lvl="0"/>
            <a:r>
              <a:rPr/>
              <a:t>observed under specific study conditions</a:t>
            </a:r>
          </a:p>
          <a:p>
            <a:pPr lvl="0"/>
            <a:r>
              <a:rPr/>
              <a:t>measured at a defined point in time</a:t>
            </a:r>
          </a:p>
          <a:p>
            <a:pPr lvl="0" indent="0" marL="0">
              <a:buNone/>
            </a:pPr>
            <a:r>
              <a:rPr/>
              <a:t>Within the context of biomedical research the purpose of analyzing a sample is to learn about [select]:</a:t>
            </a:r>
          </a:p>
          <a:p>
            <a:pPr lvl="0"/>
            <a:r>
              <a:rPr/>
              <a:t>broader patient population</a:t>
            </a:r>
          </a:p>
          <a:p>
            <a:pPr lvl="0"/>
            <a:r>
              <a:rPr/>
              <a:t>underlying biological processes</a:t>
            </a:r>
          </a:p>
          <a:p>
            <a:pPr lvl="0"/>
            <a:r>
              <a:rPr/>
              <a:t>treatment effects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Estimation Definition</a:t>
            </a:r>
          </a:p>
          <a:p>
            <a:pPr lvl="0" indent="0" marL="1270000">
              <a:buNone/>
            </a:pPr>
            <a:r>
              <a:rPr sz="2000"/>
              <a:t>Estimation: process of using sample data to produce quantitative approximations of unknown population or biological parameters that inform biomedical and clinical understanding</a:t>
            </a:r>
          </a:p>
          <a:p>
            <a:pPr lvl="0" indent="0" marL="0">
              <a:buNone/>
            </a:pPr>
            <a:r>
              <a:rPr/>
              <a:t>In practice, estimation allows us to:</a:t>
            </a:r>
          </a:p>
          <a:p>
            <a:pPr lvl="0"/>
            <a:r>
              <a:rPr/>
              <a:t>pproximate a true mean biomarker level</a:t>
            </a:r>
          </a:p>
          <a:p>
            <a:pPr lvl="0"/>
            <a:r>
              <a:rPr/>
              <a:t>approximate a true probability of response</a:t>
            </a:r>
          </a:p>
          <a:p>
            <a:pPr lvl="0"/>
            <a:r>
              <a:rPr/>
              <a:t>approximate a true rate of clinical events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Whats being estimated?</a:t>
                </a:r>
              </a:p>
              <a:p>
                <a:pPr lvl="0" indent="0" marL="0">
                  <a:buNone/>
                </a:pPr>
                <a:r>
                  <a:rPr/>
                  <a:t>estimation targets defined population quantities, including:</a:t>
                </a:r>
              </a:p>
              <a:p>
                <a:pPr lvl="0"/>
                <a:r>
                  <a:rPr>
                    <a:latin typeface="Courier"/>
                  </a:rPr>
                  <a:t>probabilities</a:t>
                </a:r>
                <a:r>
                  <a:rPr/>
                  <a:t>: proportion of patients with a mutation</a:t>
                </a:r>
              </a:p>
              <a:p>
                <a:pPr lvl="0"/>
                <a:r>
                  <a:rPr>
                    <a:latin typeface="Courier"/>
                  </a:rPr>
                  <a:t>rates</a:t>
                </a:r>
                <a:r>
                  <a:rPr/>
                  <a:t>: mutation counts per genomic region</a:t>
                </a:r>
              </a:p>
              <a:p>
                <a:pPr lvl="0"/>
                <a:r>
                  <a:rPr>
                    <a:latin typeface="Courier"/>
                  </a:rPr>
                  <a:t>means</a:t>
                </a:r>
                <a:r>
                  <a:rPr/>
                  <a:t>: average biomarker levels</a:t>
                </a:r>
              </a:p>
              <a:p>
                <a:pPr lvl="0"/>
                <a:r>
                  <a:rPr>
                    <a:latin typeface="Courier"/>
                  </a:rPr>
                  <a:t>effects</a:t>
                </a:r>
                <a:r>
                  <a:rPr/>
                  <a:t>: associations between predictors and outcomes</a:t>
                </a:r>
              </a:p>
              <a:p>
                <a:pPr lvl="0" indent="0" marL="0">
                  <a:buNone/>
                </a:pPr>
                <a:r>
                  <a:rPr/>
                  <a:t>quantities not directly observed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estimated from sample data</a:t>
                </a:r>
              </a:p>
              <a:p>
                <a:pPr lvl="0" indent="0" marL="0">
                  <a:buNone/>
                </a:pPr>
                <a:r>
                  <a:rPr/>
                  <a:t>estimation goal: produce values that reflect these underlying quantities as accurately as possible given the data available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Review: Population Parameters and Sample Estimators</a:t>
                </a:r>
              </a:p>
              <a:p>
                <a:pPr lvl="0"/>
                <a:r>
                  <a:rPr>
                    <a:latin typeface="Courier"/>
                  </a:rPr>
                  <a:t>population</a:t>
                </a:r>
                <a:r>
                  <a:rPr/>
                  <a:t>: the full set of individuals or biological units of interest, such as all patients with a specific disease</a:t>
                </a:r>
              </a:p>
              <a:p>
                <a:pPr lvl="0"/>
                <a:r>
                  <a:rPr>
                    <a:latin typeface="Courier"/>
                  </a:rPr>
                  <a:t>sample</a:t>
                </a:r>
                <a:r>
                  <a:rPr/>
                  <a:t>: the subset of individuals that are actually observed in a study</a:t>
                </a:r>
              </a:p>
              <a:p>
                <a:pPr lvl="0"/>
                <a:r>
                  <a:rPr/>
                  <a:t>to estimate an unknown population parameters we use sample data as a basis for estimating the unknown population parameters because the full population parameter cannot be observed</a:t>
                </a:r>
              </a:p>
              <a:p>
                <a:pPr lvl="0" indent="0" marL="0">
                  <a:buNone/>
                </a:pPr>
                <a:r>
                  <a:rPr/>
                  <a:t>since we usually can’t observe the whole population, we rely on sample data to approximate unknown parameters - numerical quantity that describes a population or biological process: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μ</m:t>
                      </m:r>
                      <m:r>
                        <m:rPr>
                          <m:sty m:val="p"/>
                        </m:rPr>
                        <m:t>≈</m:t>
                      </m:r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≈</m:t>
                      </m:r>
                      <m:acc>
                        <m:accPr>
                          <m:chr m:val="̂"/>
                        </m:accPr>
                        <m:e>
                          <m: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λ</m:t>
                      </m:r>
                      <m:r>
                        <m:rPr>
                          <m:sty m:val="p"/>
                        </m:rPr>
                        <m:t>≈</m:t>
                      </m:r>
                      <m:acc>
                        <m:accPr>
                          <m:chr m:val="̂"/>
                        </m:accPr>
                        <m:e>
                          <m:r>
                            <m:t>λ</m:t>
                          </m:r>
                        </m:e>
                      </m:acc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- population mean μ is estimated by the sample mean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</a:p>
              <a:p>
                <a:pPr lvl="0"/>
                <a:r>
                  <a:rPr/>
                  <a:t>population proportion p is estimated by the sample proportion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</m:oMath>
                </a14:m>
              </a:p>
              <a:p>
                <a:pPr lvl="0"/>
                <a:r>
                  <a:rPr/>
                  <a:t>population rate 𝜆is estimated by an observed sample rate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λ</m:t>
                        </m:r>
                      </m:e>
                    </m:acc>
                  </m:oMath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Estimation Techniques Definition</a:t>
            </a:r>
          </a:p>
          <a:p>
            <a:pPr lvl="0" indent="0" marL="1270000">
              <a:buNone/>
            </a:pPr>
            <a:r>
              <a:rPr sz="2000"/>
              <a:t>estimation techniques are methods for using sample data to produce quantitative estimates of unknown population or biological parameters that inform clinical and biomedical decisions</a:t>
            </a:r>
          </a:p>
          <a:p>
            <a:pPr lvl="0" indent="0" marL="0">
              <a:buNone/>
            </a:pPr>
            <a:r>
              <a:rPr/>
              <a:t>Statistical estimation techniques are the primary tools used to quantify biological signals from observed data and translate them into population-level quantities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Descriptive Statistics, Estimation, and Inference</a:t>
            </a:r>
          </a:p>
          <a:p>
            <a:pPr lvl="0"/>
            <a:r>
              <a:rPr/>
              <a:t>descriptive statistics summarize the observed sample using quantities such as the mean, median, standard deviation, proportion, and range</a:t>
            </a:r>
          </a:p>
          <a:p>
            <a:pPr lvl="1"/>
            <a:r>
              <a:rPr/>
              <a:t>what are the main features of this sample?</a:t>
            </a:r>
          </a:p>
          <a:p>
            <a:pPr lvl="0"/>
            <a:r>
              <a:rPr/>
              <a:t>estimation uses those summaries as tools for approximating </a:t>
            </a:r>
            <a:r>
              <a:rPr b="1"/>
              <a:t>unknown population quantities</a:t>
            </a:r>
            <a:r>
              <a:rPr/>
              <a:t> such as a true mean biomarker level, a true treatment response probability, or a true event rate</a:t>
            </a:r>
          </a:p>
          <a:p>
            <a:pPr lvl="1"/>
            <a:r>
              <a:rPr/>
              <a:t>what does this sample suggest about the population or biological process that generated it?</a:t>
            </a:r>
          </a:p>
          <a:p>
            <a:pPr lvl="0"/>
            <a:r>
              <a:rPr/>
              <a:t>inference estimates:</a:t>
            </a:r>
          </a:p>
          <a:p>
            <a:pPr lvl="1"/>
            <a:r>
              <a:rPr/>
              <a:t>process of quantifying uncertainty and making decisions based on data, often under repeated sampling</a:t>
            </a:r>
          </a:p>
          <a:p>
            <a:pPr lvl="1"/>
            <a:r>
              <a:rPr/>
              <a:t>variable quantity, how variable the estimate would be if we repeated the study many times</a:t>
            </a:r>
          </a:p>
          <a:p>
            <a:pPr lvl="1"/>
            <a:r>
              <a:rPr/>
              <a:t>confidence intervals and hypothesis tests are tools that formalize this variability.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Estimation and Sampling</a:t>
            </a:r>
          </a:p>
          <a:p>
            <a:pPr lvl="0" indent="0" marL="0">
              <a:buNone/>
            </a:pPr>
            <a:r>
              <a:rPr/>
              <a:t>estimates are computed from sampled data rather than the full population.</a:t>
            </a:r>
          </a:p>
          <a:p>
            <a:pPr lvl="0" indent="0" marL="0">
              <a:buNone/>
            </a:pPr>
            <a:r>
              <a:rPr/>
              <a:t>datasets represents:</a:t>
            </a:r>
          </a:p>
          <a:p>
            <a:pPr lvl="0"/>
            <a:r>
              <a:rPr/>
              <a:t>subset of individuals</a:t>
            </a:r>
          </a:p>
          <a:p>
            <a:pPr lvl="0"/>
            <a:r>
              <a:rPr/>
              <a:t>observed under specific study conditions</a:t>
            </a:r>
          </a:p>
          <a:p>
            <a:pPr lvl="0"/>
            <a:r>
              <a:rPr/>
              <a:t>measured at a defined point in time</a:t>
            </a:r>
          </a:p>
          <a:p>
            <a:pPr lvl="0"/>
            <a:r>
              <a:rPr/>
              <a:t>value of an estimate depends on which observations are included in the sample</a:t>
            </a:r>
          </a:p>
          <a:p>
            <a:pPr lvl="0"/>
            <a:r>
              <a:rPr/>
              <a:t>different sample from the same population may produce a different estimate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Sampling Variability</a:t>
            </a:r>
          </a:p>
          <a:p>
            <a:pPr lvl="0"/>
            <a:r>
              <a:rPr>
                <a:latin typeface="Courier"/>
              </a:rPr>
              <a:t>sampling variability</a:t>
            </a:r>
            <a:r>
              <a:rPr/>
              <a:t>: variation in a statistic across repeated random samples from the same population, reflecting that each sample provides only partial information about the population parameter it is used to estimate</a:t>
            </a:r>
          </a:p>
          <a:p>
            <a:pPr lvl="1"/>
            <a:r>
              <a:rPr/>
              <a:t>estimates vary because each sample captures a different subset of the population</a:t>
            </a:r>
          </a:p>
          <a:p>
            <a:pPr lvl="1"/>
            <a:r>
              <a:rPr/>
              <a:t>sampling variability key concept for uncertainty quantification</a:t>
            </a:r>
          </a:p>
          <a:p>
            <a:pPr lvl="1"/>
            <a:r>
              <a:rPr/>
              <a:t>defines how estimates behave when data are collected from patient populations</a:t>
            </a:r>
          </a:p>
          <a:p>
            <a:pPr lvl="1"/>
            <a:r>
              <a:rPr/>
              <a:t>confidence intervals, standard errors, and other measures of precision are derived from the distribution of estimates across repeated samples</a:t>
            </a:r>
          </a:p>
          <a:p>
            <a:pPr lvl="0"/>
            <a:r>
              <a:rPr/>
              <a:t>estimation involves using sampled data to characterize an unknown population quantity</a:t>
            </a:r>
          </a:p>
          <a:p>
            <a:pPr lvl="1"/>
            <a:r>
              <a:rPr/>
              <a:t>estimate depends on which observations are included and will vary across different possible samples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Research Example</a:t>
            </a:r>
          </a:p>
          <a:p>
            <a:pPr lvl="0" indent="0" marL="0">
              <a:buNone/>
            </a:pPr>
            <a:r>
              <a:rPr b="1"/>
              <a:t>Background</a:t>
            </a:r>
            <a:r>
              <a:rPr/>
              <a:t>:</a:t>
            </a:r>
          </a:p>
          <a:p>
            <a:pPr lvl="0"/>
            <a:r>
              <a:rPr/>
              <a:t>consider a clinical study of metabolic health in adults receiving routine outpatient care</a:t>
            </a:r>
          </a:p>
          <a:p>
            <a:pPr lvl="0"/>
            <a:r>
              <a:rPr/>
              <a:t>study aim : learn about the broader patient population, not only the specific individuals who were enrolled in one dataset</a:t>
            </a:r>
          </a:p>
          <a:p>
            <a:pPr lvl="0" indent="0" marL="0">
              <a:buNone/>
            </a:pPr>
            <a:r>
              <a:rPr/>
              <a:t>Questions of interest include estimating the following targets linekd to an unknonw population quantity:</a:t>
            </a:r>
          </a:p>
          <a:p>
            <a:pPr lvl="0"/>
            <a:r>
              <a:rPr/>
              <a:t>What is the average fasting glucose level in the target population?</a:t>
            </a:r>
          </a:p>
          <a:p>
            <a:pPr lvl="0"/>
            <a:r>
              <a:rPr/>
              <a:t>What proportion of patients meet criteria for metabolic syndrome?</a:t>
            </a:r>
          </a:p>
          <a:p>
            <a:pPr lvl="0"/>
            <a:r>
              <a:rPr/>
              <a:t>What is the expected number of follow-up visits per patient?</a:t>
            </a:r>
          </a:p>
          <a:p>
            <a:pPr lvl="0"/>
            <a:r>
              <a:rPr/>
              <a:t>How are these outcomes associated with age and body mass index?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identify the population quantity being targeted</a:t>
            </a:r>
          </a:p>
          <a:p>
            <a:pPr lvl="0"/>
            <a:r>
              <a:rPr/>
              <a:t>distinguish a parameter from its sample-based estimate</a:t>
            </a:r>
          </a:p>
          <a:p>
            <a:pPr lvl="0"/>
            <a:r>
              <a:rPr/>
              <a:t>explain why estimates vary across samples</a:t>
            </a:r>
          </a:p>
          <a:p>
            <a:pPr lvl="0"/>
            <a:r>
              <a:rPr/>
              <a:t>quantify the variability of an estimate</a:t>
            </a:r>
          </a:p>
          <a:p>
            <a:pPr lvl="0"/>
            <a:r>
              <a:rPr/>
              <a:t>interpret confidence intervals as estimation tools</a:t>
            </a:r>
          </a:p>
          <a:p>
            <a:pPr lvl="0"/>
            <a:r>
              <a:rPr/>
              <a:t>connect simple estimation to model-based estimation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Dataset: Simulated Population</a:t>
            </a:r>
          </a:p>
          <a:p>
            <a:pPr lvl="0" indent="0" marL="0">
              <a:buNone/>
            </a:pPr>
            <a:r>
              <a:rPr/>
              <a:t>Simulated Dataset: true population quantities with sample-based estimates</a:t>
            </a:r>
          </a:p>
          <a:p>
            <a:pPr lvl="0" indent="0" marL="0">
              <a:buNone/>
            </a:pPr>
            <a:r>
              <a:rPr/>
              <a:t>The population contains:</a:t>
            </a:r>
          </a:p>
          <a:p>
            <a:pPr lvl="0"/>
            <a:r>
              <a:rPr/>
              <a:t>age</a:t>
            </a:r>
          </a:p>
          <a:p>
            <a:pPr lvl="0"/>
            <a:r>
              <a:rPr/>
              <a:t>body mass index</a:t>
            </a:r>
          </a:p>
          <a:p>
            <a:pPr lvl="0"/>
            <a:r>
              <a:rPr/>
              <a:t>fasting glucose as a continuous outcome</a:t>
            </a:r>
          </a:p>
          <a:p>
            <a:pPr lvl="0"/>
            <a:r>
              <a:rPr/>
              <a:t>metabolic syndrome as a binary outcome</a:t>
            </a:r>
          </a:p>
          <a:p>
            <a:pPr lvl="0"/>
            <a:r>
              <a:rPr/>
              <a:t>annual follow-up visits as a count outcome</a:t>
            </a:r>
          </a:p>
          <a:p>
            <a:pPr lvl="0" indent="0">
              <a:buNone/>
            </a:pPr>
            <a:r>
              <a:rPr>
                <a:latin typeface="Courier"/>
              </a:rPr>
              <a:t>  id      age      bmi   glucose metabolic_syndrome visits
1  1 54.39524 39.85363 119.33845                  0      3
2  2 57.69823 27.16594 118.42416                  1      3
3  3 75.58708 32.63481  94.55512                  1      8
4  4 60.70508 25.15924  95.11028                  0     10
5  5 61.29288 29.12545 106.83092                  0      6
6  6 77.15065 33.65993 101.94363                  1      6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Population Mean of Fasting Glucose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population mean fasting glucose</a:t>
                </a:r>
                <a:r>
                  <a:rPr/>
                  <a:t>: average glucose level across all individuals in the full target population</a:t>
                </a:r>
              </a:p>
              <a:p>
                <a:pPr lvl="0"/>
                <a:r>
                  <a:rPr/>
                  <a:t>entire simulated population is available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true value can be computed directly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true_mean_glucose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(population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glucose)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true_mean_glucose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122.2571</a:t>
                </a:r>
              </a:p>
              <a:p>
                <a:pPr lvl="0"/>
                <a:r>
                  <a:rPr/>
                  <a:t>true population mean fasting glucose for this simulated population: 122.26 mg/dL</a:t>
                </a:r>
              </a:p>
              <a:p>
                <a:pPr lvl="0"/>
                <a:r>
                  <a:rPr/>
                  <a:t>represents a measure fasting glucose for every individual in the target population and represents the average across all of those individuals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Population Proportion With Metabolic Syndrome</a:t>
            </a:r>
          </a:p>
          <a:p>
            <a:pPr lvl="0" indent="0" marL="0">
              <a:buNone/>
            </a:pPr>
            <a:r>
              <a:rPr b="1"/>
              <a:t>metabolic syndrome</a:t>
            </a:r>
            <a:r>
              <a:rPr/>
              <a:t>: clinical condition defined by the co-occurrence of multiple metabolic risk factors that increase the likelihood of cardiovascular disease and type 2 diabetes</a:t>
            </a:r>
          </a:p>
          <a:p>
            <a:pPr lvl="0" indent="0" marL="0">
              <a:buNone/>
            </a:pPr>
            <a:r>
              <a:rPr/>
              <a:t>Goal: find population proportion with metabolic syndrome - proportion of all individuals in the full population whose outcome value equals one</a:t>
            </a:r>
          </a:p>
          <a:p>
            <a:pPr lvl="0"/>
            <a:r>
              <a:rPr/>
              <a:t>probability that a randomly selected patient from the target population has metabolic syndrome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Population Proportion With Metabolic Syndrome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true_prop_metabolic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(population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metabolic_syndrome)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true_prop_metabolic</a:t>
            </a:r>
          </a:p>
          <a:p>
            <a:pPr lvl="0" indent="0">
              <a:buNone/>
            </a:pPr>
            <a:r>
              <a:rPr>
                <a:latin typeface="Courier"/>
              </a:rPr>
              <a:t>[1] 0.2855</a:t>
            </a:r>
          </a:p>
          <a:p>
            <a:pPr lvl="0"/>
            <a:r>
              <a:rPr/>
              <a:t>28.55% of individuals in the full population have metabolic syndrome</a:t>
            </a:r>
          </a:p>
          <a:p>
            <a:pPr lvl="0"/>
            <a:r>
              <a:rPr/>
              <a:t>probability that a randomly selected individual from this population has metabolic syndrome is 0.2855</a:t>
            </a:r>
          </a:p>
          <a:p>
            <a:pPr lvl="0"/>
            <a:r>
              <a:rPr/>
              <a:t>out of every 100 individuals in this population, about 29 would meet criteria for metabolic syndrome</a:t>
            </a:r>
          </a:p>
          <a:p>
            <a:pPr lvl="0" indent="0" marL="0">
              <a:buNone/>
            </a:pPr>
            <a:r>
              <a:rPr/>
              <a:t>Note: metabolic syndrome captures co-occurring factors like: - elevated glucose - abdominal obesity - dyslipidemia - hypertension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Sampling From the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sampling</a:t>
            </a:r>
            <a:r>
              <a:rPr/>
              <a:t>: mechanism that generates the observed data used for estimation by sampling individuals from the broader population</a:t>
            </a:r>
          </a:p>
          <a:p>
            <a:pPr lvl="0"/>
            <a:r>
              <a:rPr/>
              <a:t>sample below represents 150 individuals randomly drawn from the full population</a:t>
            </a:r>
          </a:p>
          <a:p>
            <a:pPr lvl="0" indent="0" marL="0">
              <a:buNone/>
            </a:pPr>
            <a:r>
              <a:rPr/>
              <a:t>Note: any quantity computed from the sample is only an estimate of the corresponding population quantity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 &lt;- </a:t>
            </a:r>
            <a:r>
              <a:rPr>
                <a:solidFill>
                  <a:srgbClr val="AD0000"/>
                </a:solidFill>
                <a:latin typeface="Courier"/>
              </a:rPr>
              <a:t>150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sample_data &lt;- population[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N_pop, n), 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(sample_data)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id      age      bmi  glucose metabolic_syndrome visits
5449 5449 69.55479 24.00229 127.5822                  1      8
2063 2063 74.47864 25.09828 140.9297                  0      4
5849 5849 44.85705 31.95317 120.3656                  0      3
2392 2392 52.25685 25.10879 135.0927                  0      5
3425 3425 57.89974 19.35952 116.0457                  0      5
6227 6227 58.97802 23.05362 107.5656                  0      2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Estimating the Population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sample mean fasting glucose: 121.81 mg/dL</a:t>
            </a:r>
          </a:p>
          <a:p>
            <a:pPr lvl="0"/>
            <a:r>
              <a:rPr/>
              <a:t>average glucose level observed in this specific sample</a:t>
            </a:r>
          </a:p>
          <a:p>
            <a:pPr lvl="0"/>
            <a:r>
              <a:rPr/>
              <a:t>true population mean: 122.2571 mg/dL</a:t>
            </a:r>
          </a:p>
          <a:p>
            <a:pPr lvl="0"/>
            <a:r>
              <a:rPr/>
              <a:t>sample provides a reasonable approximation of the true population mean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mean_glucose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(sample_data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glucose)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mean_glucose</a:t>
            </a:r>
          </a:p>
          <a:p>
            <a:pPr lvl="0" indent="0">
              <a:buNone/>
            </a:pPr>
            <a:r>
              <a:rPr>
                <a:latin typeface="Courier"/>
              </a:rPr>
              <a:t>[1] 121.8166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Sampling Variability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sampling variability</a:t>
            </a:r>
            <a:r>
              <a:rPr/>
              <a:t> : describes how an estimate changes across repeated samples drawn from the same population</a:t>
            </a:r>
          </a:p>
          <a:p>
            <a:pPr lvl="0"/>
            <a:r>
              <a:rPr/>
              <a:t>shows the range of values the estimator can take under repeated sampling</a:t>
            </a:r>
          </a:p>
          <a:p>
            <a:pPr lvl="0" indent="0" marL="0">
              <a:buNone/>
            </a:pP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Sampling Variability</a:t>
                </a:r>
              </a:p>
              <a:p>
                <a:pPr lvl="0" indent="0" marL="0">
                  <a:buNone/>
                </a:pPr>
                <a:r>
                  <a:rPr b="1"/>
                  <a:t>Plot Interpretation</a:t>
                </a:r>
              </a:p>
              <a:p>
                <a:pPr lvl="0"/>
                <a:r>
                  <a:rPr/>
                  <a:t>histogram shows sampling distribution of the sample mean</a:t>
                </a:r>
              </a:p>
              <a:p>
                <a:pPr lvl="0"/>
                <a:r>
                  <a:rPr/>
                  <a:t>distribution shows that the estimate varies from sample to sample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cluster around the population mean glucose level</a:t>
                </a:r>
              </a:p>
              <a:p>
                <a:pPr lvl="0"/>
                <a:r>
                  <a:rPr/>
                  <a:t>dashed vertical line represents the population mean</a:t>
                </a:r>
              </a:p>
              <a:p>
                <a:pPr lvl="0"/>
                <a:r>
                  <a:rPr/>
                  <a:t>each bar represents a sample mean calculated from a different simulated study of glucose levels</a:t>
                </a:r>
              </a:p>
              <a:p>
                <a:pPr lvl="0"/>
                <a:r>
                  <a:rPr/>
                  <a:t>every sample is drawn from the same underlying population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estimated mean is not identical across samples</a:t>
                </a:r>
              </a:p>
              <a:p>
                <a:pPr lvl="0"/>
                <a:r>
                  <a:rPr/>
                  <a:t>distribution is approximately symmetric and centered around a value near 122</a:t>
                </a:r>
              </a:p>
              <a:p>
                <a:pPr lvl="0"/>
                <a:r>
                  <a:rPr/>
                  <a:t>most of the sample means fall within a narrow range between 120 and 124</a:t>
                </a:r>
              </a:p>
              <a:p>
                <a:pPr lvl="0" indent="0" marL="0">
                  <a:buNone/>
                </a:pPr>
                <a:r>
                  <a:rPr/>
                  <a:t>Note: a single observed estimate is one realization from a broader distribution of possible estimates</a:t>
                </a:r>
              </a:p>
              <a:p>
                <a:pPr lvl="0" indent="0" marL="0">
                  <a:buNone/>
                </a:pP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Center and Spread of the Sampling Distribution</a:t>
            </a:r>
          </a:p>
          <a:p>
            <a:pPr lvl="0" indent="0" marL="0">
              <a:buNone/>
            </a:pPr>
            <a:r>
              <a:rPr/>
              <a:t>distribution summarizes two quantities:</a:t>
            </a:r>
          </a:p>
          <a:p>
            <a:pPr lvl="0"/>
            <a:r>
              <a:rPr/>
              <a:t>mean of the sampling distribution</a:t>
            </a:r>
          </a:p>
          <a:p>
            <a:pPr lvl="0"/>
            <a:r>
              <a:rPr/>
              <a:t>standard deviation of the sampling distribution</a:t>
            </a:r>
          </a:p>
          <a:p>
            <a:pPr lvl="0" indent="0" marL="0">
              <a:buNone/>
            </a:pPr>
            <a:r>
              <a:rPr/>
              <a:t>standard deviation: 1.21</a:t>
            </a:r>
          </a:p>
          <a:p>
            <a:pPr lvl="0"/>
            <a:r>
              <a:rPr/>
              <a:t>describes how much the estimate varies from sample to sample</a:t>
            </a:r>
          </a:p>
          <a:p>
            <a:pPr lvl="0"/>
            <a:r>
              <a:rPr/>
              <a:t>measures distance between an estimated mean and the true population mean across repeated studies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mean_of_sample_means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(sample_means),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sd_of_sample_means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(sample_means)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mean_of_sample_means   sd_of_sample_means 
          122.202023             1.206097 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Standard Error</a:t>
            </a:r>
          </a:p>
          <a:p>
            <a:pPr lvl="0" indent="0" marL="0">
              <a:buNone/>
            </a:pPr>
            <a:r>
              <a:rPr b="1"/>
              <a:t>standard error</a:t>
            </a:r>
            <a:r>
              <a:rPr/>
              <a:t>: metric that describes how much an estimate is expected to vary across repeated samples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standard deviation (SD)</a:t>
            </a:r>
            <a:r>
              <a:rPr/>
              <a:t>: describes how much individual observations vary</a:t>
            </a:r>
          </a:p>
          <a:p>
            <a:pPr lvl="0"/>
            <a:r>
              <a:rPr/>
              <a:t>how different patients are from one another</a:t>
            </a:r>
          </a:p>
          <a:p>
            <a:pPr lvl="0"/>
            <a:r>
              <a:rPr/>
              <a:t>how spread out the data are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standard error (SE)</a:t>
            </a:r>
            <a:r>
              <a:rPr/>
              <a:t> : describes how much the estimate varies</a:t>
            </a:r>
          </a:p>
          <a:p>
            <a:pPr lvl="0"/>
            <a:r>
              <a:rPr/>
              <a:t>how much the sample mean would change across repeated studies</a:t>
            </a:r>
          </a:p>
          <a:p>
            <a:pPr lvl="0"/>
            <a:r>
              <a:rPr/>
              <a:t>how precise the estimate is as a representation of the population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se_glucose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(sample_data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glucose)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(sample_data))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se_glucose</a:t>
            </a:r>
          </a:p>
          <a:p>
            <a:pPr lvl="0" indent="0">
              <a:buNone/>
            </a:pPr>
            <a:r>
              <a:rPr>
                <a:latin typeface="Courier"/>
              </a:rPr>
              <a:t>[1] 1.207456</a:t>
            </a:r>
          </a:p>
          <a:p>
            <a:pPr lvl="0"/>
            <a:r>
              <a:rPr/>
              <a:t>standard error of the sample mean glucose: 1.207</a:t>
            </a:r>
          </a:p>
          <a:p>
            <a:pPr lvl="1"/>
            <a:r>
              <a:rPr/>
              <a:t>estimate of the amount that the sample mean would differ from the true population mean across repeated samples of the same size</a:t>
            </a:r>
          </a:p>
          <a:p>
            <a:pPr lvl="1"/>
            <a:r>
              <a:rPr/>
              <a:t>most sample means would fall within about ±1.21 units of the population mean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/>
            <a:r>
              <a:rPr/>
              <a:t>estimation uses sample data to approximate unknown population quantities</a:t>
            </a:r>
          </a:p>
          <a:p>
            <a:pPr lvl="0"/>
            <a:r>
              <a:rPr/>
              <a:t>research analysis is typically conducted on samples not entire populations</a:t>
            </a:r>
          </a:p>
          <a:p>
            <a:pPr lvl="0"/>
            <a:r>
              <a:rPr/>
              <a:t>common quantities estimated include:</a:t>
            </a:r>
          </a:p>
          <a:p>
            <a:pPr lvl="1"/>
            <a:r>
              <a:rPr/>
              <a:t>mean biomarker levels</a:t>
            </a:r>
          </a:p>
          <a:p>
            <a:pPr lvl="1"/>
            <a:r>
              <a:rPr/>
              <a:t>probabilities of disease or response</a:t>
            </a:r>
          </a:p>
          <a:p>
            <a:pPr lvl="1"/>
            <a:r>
              <a:rPr/>
              <a:t>rates of clinical events</a:t>
            </a:r>
          </a:p>
          <a:p>
            <a:pPr lvl="1"/>
            <a:r>
              <a:rPr/>
              <a:t>associations between variables</a:t>
            </a:r>
          </a:p>
          <a:p>
            <a:pPr lvl="0"/>
            <a:r>
              <a:rPr/>
              <a:t>estimates depend on the sample and vary as a result</a:t>
            </a:r>
          </a:p>
          <a:p>
            <a:pPr lvl="0"/>
            <a:r>
              <a:rPr/>
              <a:t>different samples from the same population produce different estimates: </a:t>
            </a:r>
            <a:r>
              <a:rPr>
                <a:latin typeface="Courier"/>
              </a:rPr>
              <a:t>sampling variability</a:t>
            </a:r>
          </a:p>
          <a:p>
            <a:pPr lvl="0"/>
            <a:r>
              <a:rPr/>
              <a:t>estimates form a distribution centered near the population value across repeated samples, which is summarized by:</a:t>
            </a:r>
          </a:p>
          <a:p>
            <a:pPr lvl="1"/>
            <a:r>
              <a:rPr/>
              <a:t>standard deviation (SD) → variability in observed data</a:t>
            </a:r>
          </a:p>
          <a:p>
            <a:pPr lvl="1"/>
            <a:r>
              <a:rPr/>
              <a:t>standard error (SE) → variability of the estimate across samples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Estimation in Biomedical Studies</dc:title>
  <dc:creator> Lesley Chapman Hannah, Ph.D., M.S. College of Graduate Studies Northeast Ohio Medical University</dc:creator>
  <cp:keywords/>
  <dcterms:created xsi:type="dcterms:W3CDTF">2026-04-16T12:59:59Z</dcterms:created>
  <dcterms:modified xsi:type="dcterms:W3CDTF">2026-04-16T12:59:59Z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